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2" d="100"/>
          <a:sy n="72" d="100"/>
        </p:scale>
        <p:origin x="76" y="13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311F345-5D56-422E-A597-6A2B35BF95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72C334-4138-4367-9F04-9267983E7B9E}" type="datetimeFigureOut">
              <a:rPr lang="zh-CN" altLang="en-US" smtClean="0"/>
              <a:t>2026/10/1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7C2E2ED4-01ED-46D8-AFB7-B9C3307074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36CDA2F-804D-4A36-B320-256E471F6B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C623F6-7988-490C-87C8-D7FF162AF47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872040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40098014-8D43-4B1C-87F8-2AD47E8025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1AF1909-1276-4D0B-ADC3-F0FF5DB12F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2B371F9-5060-46B5-A4CA-FA692089C8D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A72C334-4138-4367-9F04-9267983E7B9E}" type="datetimeFigureOut">
              <a:rPr lang="zh-CN" altLang="en-US" smtClean="0"/>
              <a:t>2026/10/1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59E68B9-28E9-485A-A560-8A3B34D7EA0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7A09353-7378-4B28-A5C1-58548A738F5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C623F6-7988-490C-87C8-D7FF162AF47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089707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1 visual fallback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Visible Native Text 3"/>
          <p:cNvSpPr txBox="1"/>
          <p:nvPr/>
        </p:nvSpPr>
        <p:spPr>
          <a:xfrm>
            <a:off x="659363" y="2832652"/>
            <a:ext cx="10835951" cy="99391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>
            <a:noAutofit/>
          </a:bodyPr>
          <a:lstStyle/>
          <a:p>
            <a:pPr algn="l">
              <a:spcAft>
                <a:spcPts val="1565"/>
              </a:spcAft>
              <a:buNone/>
            </a:pPr>
            <a:r>
              <a:rPr lang="en-US" sz="5870">
                <a:solidFill>
                  <a:srgbClr val="000000"/>
                </a:solidFill>
                <a:latin typeface="Noto Sans"/>
                <a:ea typeface="Noto Sans"/>
                <a:cs typeface="Aptos"/>
              </a:rPr>
              <a:t>Office fidelity / </a:t>
            </a:r>
            <a:r>
              <a:rPr lang="zh-CN" sz="5870">
                <a:solidFill>
                  <a:srgbClr val="000000"/>
                </a:solidFill>
                <a:latin typeface="Microsoft YaHei"/>
                <a:ea typeface="Microsoft YaHei"/>
                <a:cs typeface="Aptos"/>
              </a:rPr>
              <a:t>中文排版</a:t>
            </a:r>
            <a:endParaRPr lang="en-US" sz="587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2 visual fallback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Visible Native Text 3"/>
          <p:cNvSpPr txBox="1"/>
          <p:nvPr/>
        </p:nvSpPr>
        <p:spPr>
          <a:xfrm>
            <a:off x="659363" y="2832652"/>
            <a:ext cx="10835951" cy="99391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>
            <a:noAutofit/>
          </a:bodyPr>
          <a:lstStyle/>
          <a:p>
            <a:pPr algn="ctr">
              <a:spcAft>
                <a:spcPts val="1565"/>
              </a:spcAft>
              <a:buNone/>
            </a:pPr>
            <a:r>
              <a:rPr lang="en-US" sz="5870">
                <a:solidFill>
                  <a:srgbClr val="000000"/>
                </a:solidFill>
                <a:latin typeface="Noto Sans"/>
                <a:ea typeface="Noto Sans"/>
                <a:cs typeface="Aptos"/>
              </a:rPr>
              <a:t>Editable text</a:t>
            </a:r>
            <a:endParaRPr lang="en-US" sz="587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3 visual fallback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Native Code Background Rectangle 3"/>
          <p:cNvSpPr/>
          <p:nvPr/>
        </p:nvSpPr>
        <p:spPr>
          <a:xfrm>
            <a:off x="6038656" y="1155424"/>
            <a:ext cx="1923272" cy="298174"/>
          </a:xfrm>
          <a:prstGeom prst="roundRect">
            <a:avLst>
              <a:gd name="adj" fmla="val 8333"/>
            </a:avLst>
          </a:prstGeom>
          <a:solidFill>
            <a:srgbClr val="F5F5F5"/>
          </a:solidFill>
          <a:ln>
            <a:noFill/>
          </a:ln>
        </p:spPr>
      </p:sp>
      <p:sp>
        <p:nvSpPr>
          <p:cNvPr id="4" name="Visible Native Text 4"/>
          <p:cNvSpPr txBox="1"/>
          <p:nvPr/>
        </p:nvSpPr>
        <p:spPr>
          <a:xfrm>
            <a:off x="696686" y="496957"/>
            <a:ext cx="10798629" cy="44726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3522"/>
              </a:lnSpc>
              <a:buNone/>
            </a:pPr>
            <a:r>
              <a:rPr lang="en-US" sz="2935">
                <a:solidFill>
                  <a:srgbClr val="000000"/>
                </a:solidFill>
                <a:latin typeface="Noto Sans"/>
                <a:ea typeface="Noto Sans"/>
                <a:cs typeface="Aptos"/>
              </a:rPr>
              <a:t>Editable text</a:t>
            </a:r>
            <a:endParaRPr lang="en-US" sz="2935"/>
          </a:p>
        </p:txBody>
      </p:sp>
      <p:sp>
        <p:nvSpPr>
          <p:cNvPr id="5" name="Visible Native Text 5"/>
          <p:cNvSpPr txBox="1"/>
          <p:nvPr/>
        </p:nvSpPr>
        <p:spPr>
          <a:xfrm>
            <a:off x="696686" y="1143000"/>
            <a:ext cx="10798629" cy="31059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>
            <a:noAutofit/>
          </a:bodyPr>
          <a:lstStyle/>
          <a:p>
            <a:pPr algn="l">
              <a:spcBef>
                <a:spcPts val="1565"/>
              </a:spcBef>
              <a:spcAft>
                <a:spcPts val="1565"/>
              </a:spcAft>
              <a:buNone/>
            </a:pPr>
            <a:r>
              <a:rPr lang="en-US" sz="1722" b="1">
                <a:solidFill>
                  <a:srgbClr val="000000"/>
                </a:solidFill>
                <a:latin typeface="Noto Sans"/>
                <a:ea typeface="Noto Sans"/>
                <a:cs typeface="Aptos"/>
              </a:rPr>
              <a:t>Bold </a:t>
            </a:r>
            <a:r>
              <a:rPr lang="zh-CN" sz="1722" b="1">
                <a:solidFill>
                  <a:srgbClr val="000000"/>
                </a:solidFill>
                <a:latin typeface="Microsoft YaHei"/>
                <a:ea typeface="Microsoft YaHei"/>
                <a:cs typeface="Aptos"/>
              </a:rPr>
              <a:t>中文</a:t>
            </a:r>
            <a:r>
              <a:rPr lang="en-US" sz="1722">
                <a:solidFill>
                  <a:srgbClr val="000000"/>
                </a:solidFill>
                <a:latin typeface="Noto Sans"/>
                <a:ea typeface="Noto Sans"/>
                <a:cs typeface="Aptos"/>
              </a:rPr>
              <a:t> and regular Latin share a baseline. Inline </a:t>
            </a:r>
            <a:r>
              <a:rPr lang="en-US" sz="1550">
                <a:solidFill>
                  <a:srgbClr val="000000"/>
                </a:solidFill>
                <a:latin typeface="DejaVu Sans Mono"/>
                <a:ea typeface="DejaVu Sans Mono"/>
                <a:cs typeface="Aptos"/>
              </a:rPr>
              <a:t>const retry = 3</a:t>
            </a:r>
            <a:r>
              <a:rPr lang="en-US" sz="1722">
                <a:solidFill>
                  <a:srgbClr val="000000"/>
                </a:solidFill>
                <a:latin typeface="Noto Sans"/>
                <a:ea typeface="Noto Sans"/>
                <a:cs typeface="Aptos"/>
              </a:rPr>
              <a:t> must remain readable.</a:t>
            </a:r>
            <a:endParaRPr lang="en-US" sz="1722"/>
          </a:p>
        </p:txBody>
      </p:sp>
      <p:sp>
        <p:nvSpPr>
          <p:cNvPr id="6" name="Visible Native Text 6"/>
          <p:cNvSpPr txBox="1"/>
          <p:nvPr/>
        </p:nvSpPr>
        <p:spPr>
          <a:xfrm>
            <a:off x="981269" y="1702076"/>
            <a:ext cx="1855042" cy="27332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>
            <a:noAutofit/>
          </a:bodyPr>
          <a:lstStyle/>
          <a:p>
            <a:pPr algn="l">
              <a:buNone/>
            </a:pPr>
            <a:r>
              <a:rPr lang="en-US" sz="1722">
                <a:solidFill>
                  <a:srgbClr val="000000"/>
                </a:solidFill>
                <a:latin typeface="Noto Sans"/>
                <a:ea typeface="Noto Sans"/>
                <a:cs typeface="Aptos"/>
              </a:rPr>
              <a:t>First item / </a:t>
            </a:r>
            <a:r>
              <a:rPr lang="zh-CN" sz="1722">
                <a:solidFill>
                  <a:srgbClr val="000000"/>
                </a:solidFill>
                <a:latin typeface="Microsoft YaHei"/>
                <a:ea typeface="Microsoft YaHei"/>
                <a:cs typeface="Aptos"/>
              </a:rPr>
              <a:t>第一项</a:t>
            </a:r>
            <a:endParaRPr lang="en-US" sz="1722"/>
          </a:p>
        </p:txBody>
      </p:sp>
      <p:sp>
        <p:nvSpPr>
          <p:cNvPr id="7" name="Visible Native Text 7"/>
          <p:cNvSpPr txBox="1"/>
          <p:nvPr/>
        </p:nvSpPr>
        <p:spPr>
          <a:xfrm>
            <a:off x="981269" y="2095759"/>
            <a:ext cx="10231016" cy="27332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>
            <a:noAutofit/>
          </a:bodyPr>
          <a:lstStyle/>
          <a:p>
            <a:pPr algn="l">
              <a:buNone/>
            </a:pPr>
            <a:r>
              <a:rPr lang="en-US" sz="1722">
                <a:solidFill>
                  <a:srgbClr val="000000"/>
                </a:solidFill>
                <a:latin typeface="Noto Sans"/>
                <a:ea typeface="Noto Sans"/>
                <a:cs typeface="Aptos"/>
              </a:rPr>
              <a:t>A second item with enough text to wrap onto another line without a second bullet or overlapping</a:t>
            </a:r>
            <a:endParaRPr lang="en-US" sz="1722"/>
          </a:p>
        </p:txBody>
      </p:sp>
      <p:sp>
        <p:nvSpPr>
          <p:cNvPr id="8" name="Visible Native Text 8"/>
          <p:cNvSpPr txBox="1"/>
          <p:nvPr/>
        </p:nvSpPr>
        <p:spPr>
          <a:xfrm>
            <a:off x="981269" y="2489442"/>
            <a:ext cx="1235917" cy="27332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>
            <a:noAutofit/>
          </a:bodyPr>
          <a:lstStyle/>
          <a:p>
            <a:pPr algn="l">
              <a:buNone/>
            </a:pPr>
            <a:r>
              <a:rPr lang="en-US" sz="1722">
                <a:solidFill>
                  <a:srgbClr val="000000"/>
                </a:solidFill>
                <a:latin typeface="Noto Sans"/>
                <a:ea typeface="Noto Sans"/>
                <a:cs typeface="Aptos"/>
              </a:rPr>
              <a:t>paragraphs.</a:t>
            </a:r>
            <a:endParaRPr lang="en-US" sz="1722"/>
          </a:p>
        </p:txBody>
      </p:sp>
      <p:sp>
        <p:nvSpPr>
          <p:cNvPr id="9" name="Visible Native Text 9"/>
          <p:cNvSpPr txBox="1"/>
          <p:nvPr/>
        </p:nvSpPr>
        <p:spPr>
          <a:xfrm>
            <a:off x="696686" y="3032211"/>
            <a:ext cx="10798629" cy="29817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>
            <a:noAutofit/>
          </a:bodyPr>
          <a:lstStyle/>
          <a:p>
            <a:pPr algn="l">
              <a:spcBef>
                <a:spcPts val="1565"/>
              </a:spcBef>
              <a:spcAft>
                <a:spcPts val="1565"/>
              </a:spcAft>
              <a:buNone/>
            </a:pPr>
            <a:r>
              <a:rPr lang="en-US" sz="1722">
                <a:solidFill>
                  <a:srgbClr val="000000"/>
                </a:solidFill>
                <a:latin typeface="Notemd Deliberately Missing Font"/>
                <a:ea typeface="Notemd Deliberately Missing Font"/>
                <a:cs typeface="Aptos"/>
              </a:rPr>
              <a:t>Missing-font fallback: </a:t>
            </a:r>
            <a:r>
              <a:rPr lang="zh-CN" sz="1722">
                <a:solidFill>
                  <a:srgbClr val="000000"/>
                </a:solidFill>
                <a:latin typeface="Microsoft YaHei"/>
                <a:ea typeface="Microsoft YaHei"/>
                <a:cs typeface="Aptos"/>
              </a:rPr>
              <a:t>缺字回退仍然可编辑。</a:t>
            </a:r>
            <a:endParaRPr lang="en-US" sz="1722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4 visual fallback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Visible Native Text 3"/>
          <p:cNvSpPr txBox="1"/>
          <p:nvPr/>
        </p:nvSpPr>
        <p:spPr>
          <a:xfrm>
            <a:off x="659363" y="2832652"/>
            <a:ext cx="10835951" cy="99391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>
            <a:noAutofit/>
          </a:bodyPr>
          <a:lstStyle/>
          <a:p>
            <a:pPr algn="ctr">
              <a:spcAft>
                <a:spcPts val="1565"/>
              </a:spcAft>
              <a:buNone/>
            </a:pPr>
            <a:r>
              <a:rPr lang="en-US" sz="5870">
                <a:solidFill>
                  <a:srgbClr val="000000"/>
                </a:solidFill>
                <a:latin typeface="Noto Sans"/>
                <a:ea typeface="Noto Sans"/>
                <a:cs typeface="Aptos"/>
              </a:rPr>
              <a:t>Table metrics</a:t>
            </a:r>
            <a:endParaRPr lang="en-US" sz="587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5 visual fallback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aphicFrame>
        <p:nvGraphicFramePr>
          <p:cNvPr id="4" name="Visible Native Table 4"/>
          <p:cNvGraphicFramePr/>
          <p:nvPr>
            <p:extLst>
              <p:ext uri="{D42A27DB-BD31-4B8C-83A1-F6EECF244321}">
                <p14:modId xmlns:p14="http://schemas.microsoft.com/office/powerpoint/2010/main" val="3841691527"/>
              </p:ext>
            </p:extLst>
          </p:nvPr>
        </p:nvGraphicFramePr>
        <p:xfrm>
          <a:off x="696686" y="944217"/>
          <a:ext cx="10798629" cy="2881765"/>
        </p:xfrm>
        <a:graphic>
          <a:graphicData uri="http://schemas.openxmlformats.org/drawingml/2006/table">
            <a:tbl>
              <a:tblPr/>
              <a:tblGrid>
                <a:gridCol w="148706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31454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970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33627">
                <a:tc>
                  <a:txBody>
                    <a:bodyPr/>
                    <a:lstStyle/>
                    <a:p>
                      <a:pPr algn="l">
                        <a:lnSpc>
                          <a:spcPts val="2583"/>
                        </a:lnSpc>
                      </a:pPr>
                      <a:r>
                        <a:rPr lang="en-US" sz="1722">
                          <a:solidFill>
                            <a:srgbClr val="000000"/>
                          </a:solidFill>
                          <a:latin typeface="Noto Sans"/>
                          <a:ea typeface="Noto Sans"/>
                          <a:cs typeface="Aptos"/>
                        </a:rPr>
                        <a:t>Contract verified</a:t>
                      </a:r>
                      <a:endParaRPr lang="en-US" sz="1722"/>
                    </a:p>
                  </a:txBody>
                  <a:tcPr marL="99527" marR="49763" marT="74543" marB="745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424">
                      <a:solidFill>
                        <a:srgbClr val="9CA3AF">
                          <a:alpha val="2000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583"/>
                        </a:lnSpc>
                      </a:pPr>
                      <a:r>
                        <a:rPr lang="en-US" sz="1722">
                          <a:solidFill>
                            <a:srgbClr val="000000"/>
                          </a:solidFill>
                          <a:latin typeface="Noto Sans"/>
                          <a:ea typeface="Noto Sans"/>
                          <a:cs typeface="Aptos"/>
                        </a:rPr>
                        <a:t>English and Chinese</a:t>
                      </a:r>
                      <a:endParaRPr lang="en-US" sz="1722"/>
                    </a:p>
                  </a:txBody>
                  <a:tcPr marL="99527" marR="49763" marT="74543" marB="745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424">
                      <a:solidFill>
                        <a:srgbClr val="9CA3AF">
                          <a:alpha val="2000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583"/>
                        </a:lnSpc>
                      </a:pPr>
                      <a:r>
                        <a:rPr lang="en-US" sz="1722">
                          <a:solidFill>
                            <a:srgbClr val="000000"/>
                          </a:solidFill>
                          <a:latin typeface="Noto Sans"/>
                          <a:ea typeface="Noto Sans"/>
                          <a:cs typeface="Aptos"/>
                        </a:rPr>
                        <a:t>Status</a:t>
                      </a:r>
                      <a:endParaRPr lang="en-US" sz="1722"/>
                    </a:p>
                  </a:txBody>
                  <a:tcPr marL="99527" marR="49763" marT="74543" marB="745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424">
                      <a:solidFill>
                        <a:srgbClr val="9CA3AF">
                          <a:alpha val="20000"/>
                        </a:srgbClr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39852">
                <a:tc>
                  <a:txBody>
                    <a:bodyPr/>
                    <a:lstStyle/>
                    <a:p>
                      <a:pPr algn="l">
                        <a:lnSpc>
                          <a:spcPts val="2583"/>
                        </a:lnSpc>
                      </a:pPr>
                      <a:r>
                        <a:rPr lang="en-US" sz="1722">
                          <a:solidFill>
                            <a:srgbClr val="000000"/>
                          </a:solidFill>
                          <a:latin typeface="Noto Sans"/>
                          <a:ea typeface="Noto Sans"/>
                          <a:cs typeface="Aptos"/>
                        </a:rPr>
                        <a:t>Cancellation</a:t>
                      </a:r>
                      <a:endParaRPr lang="en-US" sz="1722"/>
                    </a:p>
                  </a:txBody>
                  <a:tcPr marL="99527" marR="49763" marT="74543" marB="74543" anchor="ctr">
                    <a:lnL>
                      <a:noFill/>
                    </a:lnL>
                    <a:lnR>
                      <a:noFill/>
                    </a:lnR>
                    <a:lnT w="12424">
                      <a:solidFill>
                        <a:srgbClr val="9CA3AF">
                          <a:alpha val="20000"/>
                        </a:srgbClr>
                      </a:solidFill>
                    </a:lnT>
                    <a:lnB w="12424">
                      <a:solidFill>
                        <a:srgbClr val="9CA3AF">
                          <a:alpha val="2000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583"/>
                        </a:lnSpc>
                      </a:pPr>
                      <a:r>
                        <a:rPr lang="zh-CN" sz="1722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Aptos"/>
                        </a:rPr>
                        <a:t>晚到响应不能重新写入文件</a:t>
                      </a:r>
                      <a:endParaRPr lang="en-US" sz="1722"/>
                    </a:p>
                  </a:txBody>
                  <a:tcPr marL="99527" marR="49763" marT="74543" marB="74543" anchor="ctr">
                    <a:lnL>
                      <a:noFill/>
                    </a:lnL>
                    <a:lnR>
                      <a:noFill/>
                    </a:lnR>
                    <a:lnT w="12424">
                      <a:solidFill>
                        <a:srgbClr val="9CA3AF">
                          <a:alpha val="20000"/>
                        </a:srgbClr>
                      </a:solidFill>
                    </a:lnT>
                    <a:lnB w="12424">
                      <a:solidFill>
                        <a:srgbClr val="9CA3AF">
                          <a:alpha val="2000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583"/>
                        </a:lnSpc>
                      </a:pPr>
                      <a:r>
                        <a:rPr lang="en-US" sz="1722">
                          <a:solidFill>
                            <a:srgbClr val="000000"/>
                          </a:solidFill>
                          <a:latin typeface="Noto Sans"/>
                          <a:ea typeface="Noto Sans"/>
                          <a:cs typeface="Aptos"/>
                        </a:rPr>
                        <a:t>Verified</a:t>
                      </a:r>
                      <a:endParaRPr lang="en-US" sz="1722"/>
                    </a:p>
                  </a:txBody>
                  <a:tcPr marL="99527" marR="49763" marT="74543" marB="74543" anchor="ctr">
                    <a:lnL>
                      <a:noFill/>
                    </a:lnL>
                    <a:lnR>
                      <a:noFill/>
                    </a:lnR>
                    <a:lnT w="12424">
                      <a:solidFill>
                        <a:srgbClr val="9CA3AF">
                          <a:alpha val="20000"/>
                        </a:srgbClr>
                      </a:solidFill>
                    </a:lnT>
                    <a:lnB w="12424">
                      <a:solidFill>
                        <a:srgbClr val="9CA3AF">
                          <a:alpha val="20000"/>
                        </a:srgbClr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39852">
                <a:tc>
                  <a:txBody>
                    <a:bodyPr/>
                    <a:lstStyle/>
                    <a:p>
                      <a:pPr algn="l">
                        <a:lnSpc>
                          <a:spcPts val="2583"/>
                        </a:lnSpc>
                      </a:pPr>
                      <a:r>
                        <a:rPr lang="en-US" sz="1722">
                          <a:solidFill>
                            <a:srgbClr val="000000"/>
                          </a:solidFill>
                          <a:latin typeface="Noto Sans"/>
                          <a:ea typeface="Noto Sans"/>
                          <a:cs typeface="Aptos"/>
                        </a:rPr>
                        <a:t>Recovery</a:t>
                      </a:r>
                      <a:endParaRPr lang="en-US" sz="1722"/>
                    </a:p>
                  </a:txBody>
                  <a:tcPr marL="99527" marR="49763" marT="74543" marB="74543" anchor="ctr">
                    <a:lnL>
                      <a:noFill/>
                    </a:lnL>
                    <a:lnR>
                      <a:noFill/>
                    </a:lnR>
                    <a:lnT w="12424">
                      <a:solidFill>
                        <a:srgbClr val="9CA3AF">
                          <a:alpha val="20000"/>
                        </a:srgbClr>
                      </a:solidFill>
                    </a:lnT>
                    <a:lnB w="12424">
                      <a:solidFill>
                        <a:srgbClr val="9CA3AF">
                          <a:alpha val="2000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583"/>
                        </a:lnSpc>
                      </a:pPr>
                      <a:r>
                        <a:rPr lang="en-US" sz="1722">
                          <a:solidFill>
                            <a:srgbClr val="000000"/>
                          </a:solidFill>
                          <a:latin typeface="Noto Sans"/>
                          <a:ea typeface="Noto Sans"/>
                          <a:cs typeface="Aptos"/>
                        </a:rPr>
                        <a:t>Keep externally edited content and retain the recoverable preimage.</a:t>
                      </a:r>
                      <a:endParaRPr lang="en-US" sz="1722"/>
                    </a:p>
                  </a:txBody>
                  <a:tcPr marL="99527" marR="49763" marT="74543" marB="74543" anchor="ctr">
                    <a:lnL>
                      <a:noFill/>
                    </a:lnL>
                    <a:lnR>
                      <a:noFill/>
                    </a:lnR>
                    <a:lnT w="12424">
                      <a:solidFill>
                        <a:srgbClr val="9CA3AF">
                          <a:alpha val="20000"/>
                        </a:srgbClr>
                      </a:solidFill>
                    </a:lnT>
                    <a:lnB w="12424">
                      <a:solidFill>
                        <a:srgbClr val="9CA3AF">
                          <a:alpha val="2000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583"/>
                        </a:lnSpc>
                      </a:pPr>
                      <a:r>
                        <a:rPr lang="en-US" sz="1722">
                          <a:solidFill>
                            <a:srgbClr val="000000"/>
                          </a:solidFill>
                          <a:latin typeface="Noto Sans"/>
                          <a:ea typeface="Noto Sans"/>
                          <a:cs typeface="Aptos"/>
                        </a:rPr>
                        <a:t>Verified</a:t>
                      </a:r>
                      <a:endParaRPr lang="en-US" sz="1722"/>
                    </a:p>
                  </a:txBody>
                  <a:tcPr marL="99527" marR="49763" marT="74543" marB="74543" anchor="ctr">
                    <a:lnL>
                      <a:noFill/>
                    </a:lnL>
                    <a:lnR>
                      <a:noFill/>
                    </a:lnR>
                    <a:lnT w="12424">
                      <a:solidFill>
                        <a:srgbClr val="9CA3AF">
                          <a:alpha val="20000"/>
                        </a:srgbClr>
                      </a:solidFill>
                    </a:lnT>
                    <a:lnB w="12424">
                      <a:solidFill>
                        <a:srgbClr val="9CA3AF">
                          <a:alpha val="20000"/>
                        </a:srgbClr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68435">
                <a:tc>
                  <a:txBody>
                    <a:bodyPr/>
                    <a:lstStyle/>
                    <a:p>
                      <a:pPr algn="l">
                        <a:lnSpc>
                          <a:spcPts val="2583"/>
                        </a:lnSpc>
                      </a:pPr>
                      <a:r>
                        <a:rPr lang="en-US" sz="1722">
                          <a:solidFill>
                            <a:srgbClr val="000000"/>
                          </a:solidFill>
                          <a:latin typeface="Noto Sans"/>
                          <a:ea typeface="Noto Sans"/>
                          <a:cs typeface="Aptos"/>
                        </a:rPr>
                        <a:t>Bounds</a:t>
                      </a:r>
                      <a:endParaRPr lang="en-US" sz="1722"/>
                    </a:p>
                  </a:txBody>
                  <a:tcPr marL="99527" marR="49763" marT="74543" marB="74543" anchor="ctr">
                    <a:lnL>
                      <a:noFill/>
                    </a:lnL>
                    <a:lnR>
                      <a:noFill/>
                    </a:lnR>
                    <a:lnT w="12424">
                      <a:solidFill>
                        <a:srgbClr val="9CA3AF">
                          <a:alpha val="20000"/>
                        </a:srgbClr>
                      </a:solidFill>
                    </a:lnT>
                    <a:lnB w="12424">
                      <a:solidFill>
                        <a:srgbClr val="9CA3AF">
                          <a:alpha val="2000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583"/>
                        </a:lnSpc>
                      </a:pPr>
                      <a:r>
                        <a:rPr lang="en-US" sz="1722">
                          <a:solidFill>
                            <a:srgbClr val="000000"/>
                          </a:solidFill>
                          <a:latin typeface="Noto Sans"/>
                          <a:ea typeface="Noto Sans"/>
                          <a:cs typeface="Aptos"/>
                        </a:rPr>
                        <a:t>Long cell text wraps inside the cell with padding on every side. </a:t>
                      </a:r>
                      <a:r>
                        <a:rPr lang="zh-CN" sz="1722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Aptos"/>
                        </a:rPr>
                        <a:t>这段中文不能覆盖相邻单元格。</a:t>
                      </a:r>
                      <a:endParaRPr lang="en-US" sz="1722"/>
                    </a:p>
                  </a:txBody>
                  <a:tcPr marL="99527" marR="49763" marT="74543" marB="74543" anchor="ctr">
                    <a:lnL>
                      <a:noFill/>
                    </a:lnL>
                    <a:lnR>
                      <a:noFill/>
                    </a:lnR>
                    <a:lnT w="12424">
                      <a:solidFill>
                        <a:srgbClr val="9CA3AF">
                          <a:alpha val="20000"/>
                        </a:srgbClr>
                      </a:solidFill>
                    </a:lnT>
                    <a:lnB w="12424">
                      <a:solidFill>
                        <a:srgbClr val="9CA3AF">
                          <a:alpha val="2000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583"/>
                        </a:lnSpc>
                      </a:pPr>
                      <a:r>
                        <a:rPr lang="en-US" sz="1722">
                          <a:solidFill>
                            <a:srgbClr val="000000"/>
                          </a:solidFill>
                          <a:latin typeface="Noto Sans"/>
                          <a:ea typeface="Noto Sans"/>
                          <a:cs typeface="Aptos"/>
                        </a:rPr>
                        <a:t>Review</a:t>
                      </a:r>
                      <a:endParaRPr lang="en-US" sz="1722"/>
                    </a:p>
                  </a:txBody>
                  <a:tcPr marL="99527" marR="49763" marT="74543" marB="74543" anchor="ctr">
                    <a:lnL>
                      <a:noFill/>
                    </a:lnL>
                    <a:lnR>
                      <a:noFill/>
                    </a:lnR>
                    <a:lnT w="12424">
                      <a:solidFill>
                        <a:srgbClr val="9CA3AF">
                          <a:alpha val="20000"/>
                        </a:srgbClr>
                      </a:solidFill>
                    </a:lnT>
                    <a:lnB w="12424">
                      <a:solidFill>
                        <a:srgbClr val="9CA3AF">
                          <a:alpha val="20000"/>
                        </a:srgbClr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5" name="Visible Native Table 5"/>
          <p:cNvGraphicFramePr/>
          <p:nvPr/>
        </p:nvGraphicFramePr>
        <p:xfrm>
          <a:off x="696686" y="3825983"/>
          <a:ext cx="10798629" cy="1276945"/>
        </p:xfrm>
        <a:graphic>
          <a:graphicData uri="http://schemas.openxmlformats.org/drawingml/2006/table">
            <a:tbl>
              <a:tblPr/>
              <a:tblGrid>
                <a:gridCol w="51841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145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35351">
                <a:tc gridSpan="2">
                  <a:txBody>
                    <a:bodyPr/>
                    <a:lstStyle/>
                    <a:p>
                      <a:pPr algn="l">
                        <a:lnSpc>
                          <a:spcPts val="2583"/>
                        </a:lnSpc>
                      </a:pPr>
                      <a:r>
                        <a:rPr lang="en-US" sz="1722">
                          <a:solidFill>
                            <a:srgbClr val="000000"/>
                          </a:solidFill>
                          <a:latin typeface="Noto Sans"/>
                          <a:ea typeface="Noto Sans"/>
                          <a:cs typeface="Aptos"/>
                        </a:rPr>
                        <a:t>Merged header / </a:t>
                      </a:r>
                      <a:r>
                        <a:rPr lang="zh-CN" sz="1722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Aptos"/>
                        </a:rPr>
                        <a:t>合并标题</a:t>
                      </a:r>
                      <a:endParaRPr lang="en-US" sz="1722"/>
                    </a:p>
                  </a:txBody>
                  <a:tcPr marL="99527" marR="49763" marT="74543" marB="745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424">
                      <a:solidFill>
                        <a:srgbClr val="9CA3AF">
                          <a:alpha val="20000"/>
                        </a:srgbClr>
                      </a:solidFill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424">
                      <a:solidFill>
                        <a:srgbClr val="9CA3AF">
                          <a:alpha val="20000"/>
                        </a:srgbClr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1594">
                <a:tc>
                  <a:txBody>
                    <a:bodyPr/>
                    <a:lstStyle/>
                    <a:p>
                      <a:pPr algn="l">
                        <a:lnSpc>
                          <a:spcPts val="2583"/>
                        </a:lnSpc>
                      </a:pPr>
                      <a:r>
                        <a:rPr lang="en-US" sz="1722">
                          <a:solidFill>
                            <a:srgbClr val="000000"/>
                          </a:solidFill>
                          <a:latin typeface="Noto Sans"/>
                          <a:ea typeface="Noto Sans"/>
                          <a:cs typeface="Aptos"/>
                        </a:rPr>
                        <a:t>Left </a:t>
                      </a:r>
                      <a:r>
                        <a:rPr lang="zh-CN" sz="1722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Aptos"/>
                        </a:rPr>
                        <a:t>左</a:t>
                      </a:r>
                      <a:endParaRPr lang="en-US" sz="1722"/>
                    </a:p>
                  </a:txBody>
                  <a:tcPr marL="99527" marR="49763" marT="74543" marB="74543" anchor="ctr">
                    <a:lnL>
                      <a:noFill/>
                    </a:lnL>
                    <a:lnR>
                      <a:noFill/>
                    </a:lnR>
                    <a:lnT w="12424">
                      <a:solidFill>
                        <a:srgbClr val="9CA3AF">
                          <a:alpha val="20000"/>
                        </a:srgbClr>
                      </a:solidFill>
                    </a:lnT>
                    <a:lnB w="12424">
                      <a:solidFill>
                        <a:srgbClr val="9CA3AF">
                          <a:alpha val="2000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583"/>
                        </a:lnSpc>
                      </a:pPr>
                      <a:r>
                        <a:rPr lang="en-US" sz="1722">
                          <a:solidFill>
                            <a:srgbClr val="000000"/>
                          </a:solidFill>
                          <a:latin typeface="Noto Sans"/>
                          <a:ea typeface="Noto Sans"/>
                          <a:cs typeface="Aptos"/>
                        </a:rPr>
                        <a:t>Right </a:t>
                      </a:r>
                      <a:r>
                        <a:rPr lang="zh-CN" sz="1722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Aptos"/>
                        </a:rPr>
                        <a:t>右</a:t>
                      </a:r>
                      <a:endParaRPr lang="en-US" sz="1722"/>
                    </a:p>
                  </a:txBody>
                  <a:tcPr marL="99527" marR="49763" marT="74543" marB="74543" anchor="ctr">
                    <a:lnL>
                      <a:noFill/>
                    </a:lnL>
                    <a:lnR>
                      <a:noFill/>
                    </a:lnR>
                    <a:lnT w="12424">
                      <a:solidFill>
                        <a:srgbClr val="9CA3AF">
                          <a:alpha val="20000"/>
                        </a:srgbClr>
                      </a:solidFill>
                    </a:lnT>
                    <a:lnB w="12424">
                      <a:solidFill>
                        <a:srgbClr val="9CA3AF">
                          <a:alpha val="20000"/>
                        </a:srgbClr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" name="Visible Native Text 3"/>
          <p:cNvSpPr txBox="1"/>
          <p:nvPr/>
        </p:nvSpPr>
        <p:spPr>
          <a:xfrm>
            <a:off x="696686" y="496957"/>
            <a:ext cx="10798629" cy="44726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3522"/>
              </a:lnSpc>
              <a:buNone/>
            </a:pPr>
            <a:r>
              <a:rPr lang="en-US" sz="2935">
                <a:solidFill>
                  <a:srgbClr val="000000"/>
                </a:solidFill>
                <a:latin typeface="Noto Sans"/>
                <a:ea typeface="Noto Sans"/>
                <a:cs typeface="Aptos"/>
              </a:rPr>
              <a:t>Table metrics</a:t>
            </a:r>
            <a:endParaRPr lang="en-US" sz="2935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6 visual fallback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Visible Native Text 3"/>
          <p:cNvSpPr txBox="1"/>
          <p:nvPr/>
        </p:nvSpPr>
        <p:spPr>
          <a:xfrm>
            <a:off x="659363" y="2832652"/>
            <a:ext cx="10835951" cy="99391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>
            <a:noAutofit/>
          </a:bodyPr>
          <a:lstStyle/>
          <a:p>
            <a:pPr algn="ctr">
              <a:spcAft>
                <a:spcPts val="1565"/>
              </a:spcAft>
              <a:buNone/>
            </a:pPr>
            <a:r>
              <a:rPr lang="en-US" sz="5870">
                <a:solidFill>
                  <a:srgbClr val="000000"/>
                </a:solidFill>
                <a:latin typeface="Noto Sans"/>
                <a:ea typeface="Noto Sans"/>
                <a:cs typeface="Aptos"/>
              </a:rPr>
              <a:t>Layer order</a:t>
            </a:r>
            <a:endParaRPr lang="en-US" sz="587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7 visual fallback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Native Decorative Rectangle 3"/>
          <p:cNvSpPr/>
          <p:nvPr/>
        </p:nvSpPr>
        <p:spPr>
          <a:xfrm>
            <a:off x="696686" y="944217"/>
            <a:ext cx="8708571" cy="2733261"/>
          </a:xfrm>
          <a:prstGeom prst="rect">
            <a:avLst/>
          </a:prstGeom>
          <a:solidFill>
            <a:srgbClr val="E2E8F0"/>
          </a:solidFill>
          <a:ln>
            <a:noFill/>
          </a:ln>
        </p:spPr>
      </p:sp>
      <p:sp>
        <p:nvSpPr>
          <p:cNvPr id="4" name="Native Decorative Rectangle 4"/>
          <p:cNvSpPr/>
          <p:nvPr/>
        </p:nvSpPr>
        <p:spPr>
          <a:xfrm>
            <a:off x="1194318" y="1441174"/>
            <a:ext cx="4976327" cy="1242391"/>
          </a:xfrm>
          <a:prstGeom prst="rect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5" name="Native Decorative Rectangle 5"/>
          <p:cNvSpPr/>
          <p:nvPr/>
        </p:nvSpPr>
        <p:spPr>
          <a:xfrm>
            <a:off x="4428931" y="2062370"/>
            <a:ext cx="3732245" cy="1118152"/>
          </a:xfrm>
          <a:prstGeom prst="rect">
            <a:avLst/>
          </a:prstGeom>
          <a:solidFill>
            <a:srgbClr val="F59E0B"/>
          </a:solidFill>
          <a:ln>
            <a:noFill/>
          </a:ln>
        </p:spPr>
      </p:sp>
      <p:sp>
        <p:nvSpPr>
          <p:cNvPr id="6" name="Visible Native Text 6"/>
          <p:cNvSpPr txBox="1"/>
          <p:nvPr/>
        </p:nvSpPr>
        <p:spPr>
          <a:xfrm>
            <a:off x="696686" y="496957"/>
            <a:ext cx="10798629" cy="44726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3522"/>
              </a:lnSpc>
              <a:buNone/>
            </a:pPr>
            <a:r>
              <a:rPr lang="en-US" sz="2935">
                <a:solidFill>
                  <a:srgbClr val="000000"/>
                </a:solidFill>
                <a:latin typeface="Noto Sans"/>
                <a:ea typeface="Noto Sans"/>
                <a:cs typeface="Aptos"/>
              </a:rPr>
              <a:t>Layer order</a:t>
            </a:r>
            <a:endParaRPr lang="en-US" sz="2935"/>
          </a:p>
        </p:txBody>
      </p:sp>
      <p:sp>
        <p:nvSpPr>
          <p:cNvPr id="7" name="Visible Native Text 7"/>
          <p:cNvSpPr txBox="1"/>
          <p:nvPr/>
        </p:nvSpPr>
        <p:spPr>
          <a:xfrm>
            <a:off x="1194318" y="1441174"/>
            <a:ext cx="4976327" cy="1242391"/>
          </a:xfrm>
          <a:prstGeom prst="rect">
            <a:avLst/>
          </a:prstGeom>
          <a:noFill/>
          <a:ln>
            <a:noFill/>
          </a:ln>
        </p:spPr>
        <p:txBody>
          <a:bodyPr wrap="square" lIns="99527" tIns="99391" rIns="99527" bIns="99391" rtlCol="0" anchor="t">
            <a:noAutofit/>
          </a:bodyPr>
          <a:lstStyle/>
          <a:p>
            <a:pPr algn="l">
              <a:lnSpc>
                <a:spcPts val="2583"/>
              </a:lnSpc>
              <a:buNone/>
            </a:pPr>
            <a:r>
              <a:rPr lang="en-US" sz="1722">
                <a:solidFill>
                  <a:srgbClr val="FFFFFF"/>
                </a:solidFill>
                <a:latin typeface="Noto Sans"/>
                <a:ea typeface="Noto Sans"/>
                <a:cs typeface="Aptos"/>
              </a:rPr>
              <a:t>Background layer / </a:t>
            </a:r>
            <a:r>
              <a:rPr lang="zh-CN" sz="1722">
                <a:solidFill>
                  <a:srgbClr val="FFFFFF"/>
                </a:solidFill>
                <a:latin typeface="Microsoft YaHei"/>
                <a:ea typeface="Microsoft YaHei"/>
                <a:cs typeface="Aptos"/>
              </a:rPr>
              <a:t>背层</a:t>
            </a:r>
            <a:endParaRPr lang="en-US" sz="1722"/>
          </a:p>
        </p:txBody>
      </p:sp>
      <p:sp>
        <p:nvSpPr>
          <p:cNvPr id="8" name="Visible Native Text 8"/>
          <p:cNvSpPr txBox="1"/>
          <p:nvPr/>
        </p:nvSpPr>
        <p:spPr>
          <a:xfrm>
            <a:off x="4428931" y="2062370"/>
            <a:ext cx="3732245" cy="1118152"/>
          </a:xfrm>
          <a:prstGeom prst="rect">
            <a:avLst/>
          </a:prstGeom>
          <a:noFill/>
          <a:ln>
            <a:noFill/>
          </a:ln>
        </p:spPr>
        <p:txBody>
          <a:bodyPr wrap="square" lIns="99527" tIns="99391" rIns="99527" bIns="99391" rtlCol="0" anchor="t">
            <a:noAutofit/>
          </a:bodyPr>
          <a:lstStyle/>
          <a:p>
            <a:pPr algn="l">
              <a:lnSpc>
                <a:spcPts val="2583"/>
              </a:lnSpc>
              <a:buNone/>
            </a:pPr>
            <a:r>
              <a:rPr lang="en-US" sz="1722">
                <a:solidFill>
                  <a:srgbClr val="000000"/>
                </a:solidFill>
                <a:latin typeface="Noto Sans"/>
                <a:ea typeface="Noto Sans"/>
                <a:cs typeface="Aptos"/>
              </a:rPr>
              <a:t>Foreground layer / </a:t>
            </a:r>
            <a:r>
              <a:rPr lang="zh-CN" sz="1722">
                <a:solidFill>
                  <a:srgbClr val="000000"/>
                </a:solidFill>
                <a:latin typeface="Microsoft YaHei"/>
                <a:ea typeface="Microsoft YaHei"/>
                <a:cs typeface="Aptos"/>
              </a:rPr>
              <a:t>前层</a:t>
            </a:r>
            <a:endParaRPr lang="en-US" sz="1722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8 visual fallback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Visible Native Text 3"/>
          <p:cNvSpPr txBox="1"/>
          <p:nvPr/>
        </p:nvSpPr>
        <p:spPr>
          <a:xfrm>
            <a:off x="659363" y="2832652"/>
            <a:ext cx="10835951" cy="99391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>
            <a:noAutofit/>
          </a:bodyPr>
          <a:lstStyle/>
          <a:p>
            <a:pPr algn="ctr">
              <a:spcAft>
                <a:spcPts val="1565"/>
              </a:spcAft>
              <a:buNone/>
            </a:pPr>
            <a:r>
              <a:rPr lang="en-US" sz="5870">
                <a:solidFill>
                  <a:srgbClr val="000000"/>
                </a:solidFill>
                <a:latin typeface="Noto Sans"/>
                <a:ea typeface="Noto Sans"/>
                <a:cs typeface="Aptos"/>
              </a:rPr>
              <a:t>Diagram fallback</a:t>
            </a:r>
            <a:endParaRPr lang="en-US" sz="587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9 visual fallback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Visible Native Text 3"/>
          <p:cNvSpPr txBox="1"/>
          <p:nvPr/>
        </p:nvSpPr>
        <p:spPr>
          <a:xfrm>
            <a:off x="696686" y="496957"/>
            <a:ext cx="10798629" cy="44726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3522"/>
              </a:lnSpc>
              <a:buNone/>
            </a:pPr>
            <a:r>
              <a:rPr lang="en-US" sz="2935">
                <a:solidFill>
                  <a:srgbClr val="000000"/>
                </a:solidFill>
                <a:latin typeface="Noto Sans"/>
                <a:ea typeface="Noto Sans"/>
                <a:cs typeface="Aptos"/>
              </a:rPr>
              <a:t>Diagram fallback</a:t>
            </a:r>
            <a:endParaRPr lang="en-US" sz="2935"/>
          </a:p>
        </p:txBody>
      </p:sp>
      <p:sp>
        <p:nvSpPr>
          <p:cNvPr id="4" name="Visible Native Text 4"/>
          <p:cNvSpPr txBox="1"/>
          <p:nvPr/>
        </p:nvSpPr>
        <p:spPr>
          <a:xfrm>
            <a:off x="696686" y="2624358"/>
            <a:ext cx="10798629" cy="29817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>
            <a:noAutofit/>
          </a:bodyPr>
          <a:lstStyle/>
          <a:p>
            <a:pPr algn="l">
              <a:spcBef>
                <a:spcPts val="1565"/>
              </a:spcBef>
              <a:spcAft>
                <a:spcPts val="1565"/>
              </a:spcAft>
              <a:buNone/>
            </a:pPr>
            <a:r>
              <a:rPr lang="en-US" sz="1722">
                <a:solidFill>
                  <a:srgbClr val="000000"/>
                </a:solidFill>
                <a:latin typeface="Noto Sans"/>
                <a:ea typeface="Noto Sans"/>
                <a:cs typeface="Aptos"/>
              </a:rPr>
              <a:t>Mermaid geometry remains an explicit image fallback. Surrounding text stays editable.</a:t>
            </a:r>
            <a:endParaRPr lang="en-US" sz="1722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10 visual fallback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Visible Native Text 3"/>
          <p:cNvSpPr txBox="1"/>
          <p:nvPr/>
        </p:nvSpPr>
        <p:spPr>
          <a:xfrm>
            <a:off x="5680399" y="3081130"/>
            <a:ext cx="808847" cy="49695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>
            <a:noAutofit/>
          </a:bodyPr>
          <a:lstStyle/>
          <a:p>
            <a:pPr algn="l">
              <a:spcAft>
                <a:spcPts val="1565"/>
              </a:spcAft>
              <a:buNone/>
            </a:pPr>
            <a:r>
              <a:rPr lang="en-US" sz="3522">
                <a:solidFill>
                  <a:srgbClr val="000000"/>
                </a:solidFill>
                <a:latin typeface="Noto Sans"/>
                <a:ea typeface="Noto Sans"/>
                <a:cs typeface="Aptos"/>
              </a:rPr>
              <a:t>End</a:t>
            </a:r>
            <a:endParaRPr lang="en-US" sz="3522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" panose="020F0502020204030204"/>
        <a:ea typeface="Microsoft YaHei"/>
        <a:cs typeface="Noto Sans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" panose="020F0502020204030204"/>
        <a:ea typeface="Microsoft YaHei"/>
        <a:cs typeface="DejaVu Sans Mono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154</Words>
  <Application>Microsoft Office PowerPoint</Application>
  <PresentationFormat>宽屏</PresentationFormat>
  <Paragraphs>33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6" baseType="lpstr">
      <vt:lpstr>Microsoft YaHei</vt:lpstr>
      <vt:lpstr>Notemd Deliberately Missing Font</vt:lpstr>
      <vt:lpstr>Arial</vt:lpstr>
      <vt:lpstr>DejaVu Sans Mono</vt:lpstr>
      <vt:lpstr>Noto Sans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export/_slidev-sources/pptx-office-fidelity.slidev.md</dc:title>
  <dc:creator>NoteMD</dc:creator>
  <cp:lastModifiedBy>jacob</cp:lastModifiedBy>
  <cp:revision>1</cp:revision>
  <dcterms:created xsi:type="dcterms:W3CDTF">2026-10-01T05:20:03Z</dcterms:created>
  <dcterms:modified xsi:type="dcterms:W3CDTF">2026-10-01T05:31:55Z</dcterms:modified>
</cp:coreProperties>
</file>